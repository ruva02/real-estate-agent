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7" r:id="rId2"/>
    <p:sldId id="259" r:id="rId3"/>
    <p:sldId id="277" r:id="rId4"/>
    <p:sldId id="275" r:id="rId5"/>
    <p:sldId id="278" r:id="rId6"/>
    <p:sldId id="279" r:id="rId7"/>
    <p:sldId id="280" r:id="rId8"/>
    <p:sldId id="284" r:id="rId9"/>
    <p:sldId id="281" r:id="rId10"/>
    <p:sldId id="282" r:id="rId11"/>
    <p:sldId id="283" r:id="rId12"/>
    <p:sldId id="271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rtik Pawar" initials="KP" lastIdx="1" clrIdx="0">
    <p:extLst>
      <p:ext uri="{19B8F6BF-5375-455C-9EA6-DF929625EA0E}">
        <p15:presenceInfo xmlns:p15="http://schemas.microsoft.com/office/powerpoint/2012/main" userId="5a0b2acfb5eb3ce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D3FAFD-F4B5-402E-ADED-E7D54AA4E4DD}" v="26" dt="2025-04-22T17:02:03.73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>
      <p:cViewPr>
        <p:scale>
          <a:sx n="75" d="100"/>
          <a:sy n="75" d="100"/>
        </p:scale>
        <p:origin x="120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0988B3-C897-4870-BEC8-B1E5CEBD5A10}" type="datetimeFigureOut">
              <a:rPr lang="en-IN" smtClean="0"/>
              <a:pPr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EA73D-9657-47E0-BDF5-72F79EB1B4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056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EA73D-9657-47E0-BDF5-72F79EB1B44A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184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A3283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A3283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8475" y="1682750"/>
            <a:ext cx="5257800" cy="349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16662" y="1682750"/>
            <a:ext cx="5257800" cy="349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A3283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6500" y="5994400"/>
            <a:ext cx="2044699" cy="8000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430961"/>
            <a:ext cx="12192000" cy="427355"/>
          </a:xfrm>
          <a:custGeom>
            <a:avLst/>
            <a:gdLst/>
            <a:ahLst/>
            <a:cxnLst/>
            <a:rect l="l" t="t" r="r" b="b"/>
            <a:pathLst>
              <a:path w="12192000" h="427354">
                <a:moveTo>
                  <a:pt x="0" y="0"/>
                </a:moveTo>
                <a:lnTo>
                  <a:pt x="12191999" y="0"/>
                </a:lnTo>
                <a:lnTo>
                  <a:pt x="12191999" y="427037"/>
                </a:lnTo>
                <a:lnTo>
                  <a:pt x="0" y="427037"/>
                </a:lnTo>
                <a:lnTo>
                  <a:pt x="0" y="0"/>
                </a:lnTo>
                <a:close/>
              </a:path>
            </a:pathLst>
          </a:custGeom>
          <a:solidFill>
            <a:srgbClr val="A328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6500" y="5994400"/>
            <a:ext cx="2044699" cy="8000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96887" y="407987"/>
            <a:ext cx="11181080" cy="5489575"/>
          </a:xfrm>
          <a:custGeom>
            <a:avLst/>
            <a:gdLst/>
            <a:ahLst/>
            <a:cxnLst/>
            <a:rect l="l" t="t" r="r" b="b"/>
            <a:pathLst>
              <a:path w="11181080" h="5489575">
                <a:moveTo>
                  <a:pt x="11180762" y="5489574"/>
                </a:moveTo>
                <a:lnTo>
                  <a:pt x="0" y="5489574"/>
                </a:lnTo>
                <a:lnTo>
                  <a:pt x="0" y="0"/>
                </a:lnTo>
                <a:lnTo>
                  <a:pt x="11180762" y="0"/>
                </a:lnTo>
                <a:lnTo>
                  <a:pt x="11180762" y="5489574"/>
                </a:lnTo>
                <a:close/>
              </a:path>
            </a:pathLst>
          </a:custGeom>
          <a:solidFill>
            <a:srgbClr val="A328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96500" y="5994400"/>
            <a:ext cx="2044699" cy="8000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430961"/>
            <a:ext cx="12192000" cy="427355"/>
          </a:xfrm>
          <a:custGeom>
            <a:avLst/>
            <a:gdLst/>
            <a:ahLst/>
            <a:cxnLst/>
            <a:rect l="l" t="t" r="r" b="b"/>
            <a:pathLst>
              <a:path w="12192000" h="427354">
                <a:moveTo>
                  <a:pt x="0" y="0"/>
                </a:moveTo>
                <a:lnTo>
                  <a:pt x="12191999" y="0"/>
                </a:lnTo>
                <a:lnTo>
                  <a:pt x="12191999" y="427037"/>
                </a:lnTo>
                <a:lnTo>
                  <a:pt x="0" y="427037"/>
                </a:lnTo>
                <a:lnTo>
                  <a:pt x="0" y="0"/>
                </a:lnTo>
                <a:close/>
              </a:path>
            </a:pathLst>
          </a:custGeom>
          <a:solidFill>
            <a:srgbClr val="A328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96500" y="5994400"/>
            <a:ext cx="2044699" cy="8000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007" y="401954"/>
            <a:ext cx="12071984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A3283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98625" y="1436687"/>
            <a:ext cx="8801100" cy="3463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3802" y="562991"/>
            <a:ext cx="114528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4400" dirty="0">
                <a:latin typeface="Poppins Medium" panose="00000600000000000000" pitchFamily="2" charset="0"/>
                <a:ea typeface="Tahoma" panose="020B0604030504040204" pitchFamily="34" charset="0"/>
                <a:cs typeface="Poppins Medium" panose="00000600000000000000" pitchFamily="2" charset="0"/>
              </a:rPr>
              <a:t>Real Estate Support Triage Agent 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96500" y="5994400"/>
            <a:ext cx="2044699" cy="8000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37C602E-AA94-85EB-06FD-BCA6E12116F6}"/>
              </a:ext>
            </a:extLst>
          </p:cNvPr>
          <p:cNvSpPr txBox="1"/>
          <p:nvPr/>
        </p:nvSpPr>
        <p:spPr>
          <a:xfrm>
            <a:off x="120199" y="620688"/>
            <a:ext cx="1195160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500" b="1" dirty="0">
                <a:latin typeface="Poppins" panose="00000500000000000000" pitchFamily="2" charset="0"/>
                <a:cs typeface="Poppins" panose="00000500000000000000" pitchFamily="2" charset="0"/>
              </a:rPr>
              <a:t>Problem Statement 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A672B9-876E-370B-E8CC-8AEB0517D735}"/>
              </a:ext>
            </a:extLst>
          </p:cNvPr>
          <p:cNvSpPr txBox="1"/>
          <p:nvPr/>
        </p:nvSpPr>
        <p:spPr>
          <a:xfrm>
            <a:off x="227343" y="1700808"/>
            <a:ext cx="11737307" cy="3114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Build an AI-powered real estate support triage agent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Automate customer query handling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Perform structured property search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Integrate LLM for intelligent responses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Provide secure and scalable architecture</a:t>
            </a:r>
          </a:p>
          <a:p>
            <a:endParaRPr lang="en-US" sz="3000" dirty="0">
              <a:latin typeface="Amasis MT Pro" panose="020405040500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B5EA1EE-13A1-F9CC-F5A1-FF34F8461336}"/>
              </a:ext>
            </a:extLst>
          </p:cNvPr>
          <p:cNvSpPr txBox="1"/>
          <p:nvPr/>
        </p:nvSpPr>
        <p:spPr>
          <a:xfrm>
            <a:off x="191344" y="620688"/>
            <a:ext cx="115932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b="1" dirty="0">
                <a:latin typeface="Amasis MT Pro" panose="02040504050005020304" pitchFamily="18" charset="0"/>
              </a:rPr>
              <a:t>Low-Level Design Overview:</a:t>
            </a:r>
          </a:p>
          <a:p>
            <a:pPr algn="just"/>
            <a:endParaRPr lang="en-US" sz="3000" b="1" dirty="0">
              <a:latin typeface="Amasis MT Pro" panose="020405040500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64B43-213D-D1C1-E56C-9BDA29AD72D9}"/>
              </a:ext>
            </a:extLst>
          </p:cNvPr>
          <p:cNvSpPr txBox="1"/>
          <p:nvPr/>
        </p:nvSpPr>
        <p:spPr>
          <a:xfrm>
            <a:off x="223983" y="1777052"/>
            <a:ext cx="1123324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Modular backend architecture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Chat &amp; AI Processing Module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Tool Calling Mechanism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Interaction Layer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 &amp; Security Layer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14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82F9FC-C5B4-E878-DAB5-FF1D8152ABBF}"/>
              </a:ext>
            </a:extLst>
          </p:cNvPr>
          <p:cNvSpPr txBox="1"/>
          <p:nvPr/>
        </p:nvSpPr>
        <p:spPr>
          <a:xfrm>
            <a:off x="155340" y="836712"/>
            <a:ext cx="11881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b="1" dirty="0">
                <a:latin typeface="Amasis MT Pro" panose="02040504050005020304" pitchFamily="18" charset="0"/>
              </a:rPr>
              <a:t>Authentication Module (LLD) :</a:t>
            </a:r>
            <a:r>
              <a:rPr lang="en-US" sz="4000" dirty="0">
                <a:latin typeface="Amasis MT Pro" panose="02040504050005020304" pitchFamily="18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8010A8-5022-CA62-700D-4676CD2DE653}"/>
              </a:ext>
            </a:extLst>
          </p:cNvPr>
          <p:cNvSpPr txBox="1"/>
          <p:nvPr/>
        </p:nvSpPr>
        <p:spPr>
          <a:xfrm>
            <a:off x="155340" y="1963983"/>
            <a:ext cx="11737304" cy="293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User Signup with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Login with hashed password verification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OTP-based password reset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SMTP email integration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MongoDB storage with secure schema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29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97B7A-827D-3ECB-F50C-D405289B488E}"/>
              </a:ext>
            </a:extLst>
          </p:cNvPr>
          <p:cNvSpPr>
            <a:spLocks noGrp="1"/>
          </p:cNvSpPr>
          <p:nvPr/>
        </p:nvSpPr>
        <p:spPr>
          <a:xfrm>
            <a:off x="119336" y="476672"/>
            <a:ext cx="82296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4000" b="1" dirty="0">
                <a:latin typeface="Amasis MT Pro" panose="02040504050005020304" pitchFamily="18" charset="0"/>
              </a:rPr>
              <a:t>Chat Processing Flow (LLD)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4E1512-FC8D-59B6-F9B7-6863113F94AF}"/>
              </a:ext>
            </a:extLst>
          </p:cNvPr>
          <p:cNvSpPr txBox="1"/>
          <p:nvPr/>
        </p:nvSpPr>
        <p:spPr>
          <a:xfrm>
            <a:off x="119336" y="1426189"/>
            <a:ext cx="10873208" cy="293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User message received via /chat endpoint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Message appended to conversation history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LLM analyzes intent &amp; extracts parameters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If sufficient info → Tool call triggered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Response formatted and returned to frontend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766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ABB560-F5E4-9A8F-A10B-B88D8E8929B0}"/>
              </a:ext>
            </a:extLst>
          </p:cNvPr>
          <p:cNvSpPr txBox="1"/>
          <p:nvPr/>
        </p:nvSpPr>
        <p:spPr>
          <a:xfrm>
            <a:off x="0" y="3452285"/>
            <a:ext cx="9289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2E8987-0B9D-F561-7421-BB39DE472B37}"/>
              </a:ext>
            </a:extLst>
          </p:cNvPr>
          <p:cNvSpPr txBox="1"/>
          <p:nvPr/>
        </p:nvSpPr>
        <p:spPr>
          <a:xfrm>
            <a:off x="191344" y="476672"/>
            <a:ext cx="1137726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/>
              <a:t>Database Design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F4A66-0B35-E341-4913-7DF8FF657413}"/>
              </a:ext>
            </a:extLst>
          </p:cNvPr>
          <p:cNvSpPr txBox="1"/>
          <p:nvPr/>
        </p:nvSpPr>
        <p:spPr>
          <a:xfrm>
            <a:off x="155157" y="1556792"/>
            <a:ext cx="11449272" cy="293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Users Collection: Stores user credentials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Properties Collection: Buy/Rent listings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OTP Collection: Temporary password reset codes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TTL Index for OTP expiration (10 mins)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Async MongoDB driver (Motor) used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953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B3B5C7-30F5-354C-6E5A-98315DD1D0A1}"/>
              </a:ext>
            </a:extLst>
          </p:cNvPr>
          <p:cNvSpPr txBox="1"/>
          <p:nvPr/>
        </p:nvSpPr>
        <p:spPr>
          <a:xfrm>
            <a:off x="299356" y="620688"/>
            <a:ext cx="1159328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/>
              <a:t>Architectural Decisions: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7ABCC-F455-5DD2-3CAF-C3ECD4BDE981}"/>
              </a:ext>
            </a:extLst>
          </p:cNvPr>
          <p:cNvSpPr txBox="1"/>
          <p:nvPr/>
        </p:nvSpPr>
        <p:spPr>
          <a:xfrm>
            <a:off x="191344" y="1628800"/>
            <a:ext cx="11485276" cy="293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for high performance &amp; async support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MongoDB for flexible property schema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for tool calling orchestration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Gemini for reasoning &amp; structured output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Modular separation for scalability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627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7FDCD9-97F2-0A98-310D-CE197661CDE6}"/>
              </a:ext>
            </a:extLst>
          </p:cNvPr>
          <p:cNvSpPr txBox="1"/>
          <p:nvPr/>
        </p:nvSpPr>
        <p:spPr>
          <a:xfrm>
            <a:off x="695400" y="260648"/>
            <a:ext cx="6696744" cy="612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Validator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 Classification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Urgency Detection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Entity Recognition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Builder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Generator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API Call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Formatter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Draft Response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D06337-7319-893D-617F-81DFD57729F4}"/>
              </a:ext>
            </a:extLst>
          </p:cNvPr>
          <p:cNvSpPr txBox="1"/>
          <p:nvPr/>
        </p:nvSpPr>
        <p:spPr>
          <a:xfrm>
            <a:off x="6089104" y="2105561"/>
            <a:ext cx="45365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Component Level Architecture</a:t>
            </a:r>
          </a:p>
        </p:txBody>
      </p:sp>
    </p:spTree>
    <p:extLst>
      <p:ext uri="{BB962C8B-B14F-4D97-AF65-F5344CB8AC3E}">
        <p14:creationId xmlns:p14="http://schemas.microsoft.com/office/powerpoint/2010/main" val="3234609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DE49A42-EDC5-B53D-751D-1F0837B45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457" y="430385"/>
            <a:ext cx="3913085" cy="599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836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FD3569-35F8-9D1D-6793-A1F9179CF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681" y="0"/>
            <a:ext cx="4022638" cy="620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8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1FAEC5A-9B76-BAF7-908D-9C9197CE5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260648"/>
            <a:ext cx="11665296" cy="583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1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2995" y="2564904"/>
            <a:ext cx="490601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185" dirty="0">
                <a:solidFill>
                  <a:srgbClr val="8D1625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Thank</a:t>
            </a:r>
            <a:r>
              <a:rPr sz="6600" spc="-535" dirty="0">
                <a:solidFill>
                  <a:srgbClr val="8D1625"/>
                </a:solidFill>
              </a:rPr>
              <a:t> </a:t>
            </a:r>
            <a:r>
              <a:rPr sz="6600" spc="114" dirty="0">
                <a:solidFill>
                  <a:srgbClr val="8D1625"/>
                </a:solidFill>
              </a:rPr>
              <a:t>You</a:t>
            </a:r>
            <a:r>
              <a:rPr sz="6600" spc="320" dirty="0"/>
              <a:t>!</a:t>
            </a:r>
            <a:endParaRPr sz="6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588</TotalTime>
  <Words>250</Words>
  <Application>Microsoft Office PowerPoint</Application>
  <PresentationFormat>Widescreen</PresentationFormat>
  <Paragraphs>62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Amasis MT Pro</vt:lpstr>
      <vt:lpstr>Arial</vt:lpstr>
      <vt:lpstr>Calibri</vt:lpstr>
      <vt:lpstr>Poppins</vt:lpstr>
      <vt:lpstr>Poppins Medium</vt:lpstr>
      <vt:lpstr>Tahoma</vt:lpstr>
      <vt:lpstr>Times New Roman</vt:lpstr>
      <vt:lpstr>Office Theme</vt:lpstr>
      <vt:lpstr>Real Estate Support Triage Agent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Medicaps Presenation Template Final.ppt</dc:title>
  <dc:creator>Kartik Pawar</dc:creator>
  <cp:lastModifiedBy>Ronak Bhawsar</cp:lastModifiedBy>
  <cp:revision>30</cp:revision>
  <dcterms:created xsi:type="dcterms:W3CDTF">2024-03-04T17:08:48Z</dcterms:created>
  <dcterms:modified xsi:type="dcterms:W3CDTF">2026-02-16T03:29:49Z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